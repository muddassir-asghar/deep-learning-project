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DM Sans Medium" pitchFamily="2" charset="0"/>
      <p:regular r:id="rId17"/>
      <p:bold r:id="rId18"/>
      <p:italic r:id="rId19"/>
      <p:boldItalic r:id="rId20"/>
    </p:embeddedFont>
    <p:embeddedFont>
      <p:font typeface="Merriweather" panose="00000500000000000000" pitchFamily="2" charset="0"/>
      <p:bold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ECBECA-A440-448D-97DF-FFF69A7D0D62}">
  <a:tblStyle styleId="{D1ECBECA-A440-448D-97DF-FFF69A7D0D6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27" y="88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3810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1443300"/>
            <a:ext cx="10668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Cross-Domain Evaluation of </a:t>
            </a:r>
            <a:r>
              <a:rPr lang="en-US" sz="4800" b="1" dirty="0" err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DAViT</a:t>
            </a:r>
            <a:endParaRPr sz="4800" b="1" dirty="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333500" y="2857500"/>
            <a:ext cx="9525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Testing Generalisation of a Pretrained Vision Transformer for Pneumonia Detection</a:t>
            </a:r>
            <a:endParaRPr sz="1800" b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62000" y="4191000"/>
            <a:ext cx="10668000" cy="1905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333500" y="4572000"/>
            <a:ext cx="9525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Haseeb Arshad (23i-2578)  •  Haider Farooq (23i-2542)  •  Mudassir Asghar (23i-2577)</a:t>
            </a:r>
            <a:endParaRPr sz="1600" b="1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333500" y="5143500"/>
            <a:ext cx="9525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Department of AI &amp; Data Science, FAST-NUCES Islamabad</a:t>
            </a:r>
            <a:endParaRPr sz="1400" b="0">
              <a:solidFill>
                <a:srgbClr val="64748B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898302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Domain Gap Challenge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162050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1898302"/>
            <a:ext cx="56007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Why it Matters?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286500" y="5613052"/>
            <a:ext cx="53340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Fig 1: Pediatric (Kaggle) vs Adult (CoronaHack) Domain Differences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95350" y="2268825"/>
            <a:ext cx="573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2269777"/>
            <a:ext cx="495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Clinical Need: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Pneumonia kills 740,000+ annually; AI offers scalable diagnosis.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95350" y="2817405"/>
            <a:ext cx="573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2500" y="2818358"/>
            <a:ext cx="495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Barrier: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Models trained at one hospital (Source) fail at another (Target).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95350" y="3365986"/>
            <a:ext cx="573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52500" y="3366938"/>
            <a:ext cx="495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DAViT's Claim: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DINOv2 backbone for "domain robustness."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95350" y="3914566"/>
            <a:ext cx="573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52500" y="3915519"/>
            <a:ext cx="495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Our Mission: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Conduct a Zero-Shot Transfer to test if it survives unseen data.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50" y="1917352"/>
            <a:ext cx="52959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571500" y="571500"/>
            <a:ext cx="11601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Literature Review: Contemporary Methods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162050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15"/>
          <p:cNvGraphicFramePr/>
          <p:nvPr/>
        </p:nvGraphicFramePr>
        <p:xfrm>
          <a:off x="571500" y="2647057"/>
          <a:ext cx="11049000" cy="2023000"/>
        </p:xfrm>
        <a:graphic>
          <a:graphicData uri="http://schemas.openxmlformats.org/drawingml/2006/table">
            <a:tbl>
              <a:tblPr firstRow="1" bandRow="1">
                <a:noFill/>
                <a:tableStyleId>{D1ECBECA-A440-448D-97DF-FFF69A7D0D62}</a:tableStyleId>
              </a:tblPr>
              <a:tblGrid>
                <a:gridCol w="340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Baseline Papers (2024-25)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Technique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Limitations / Research Gaps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DAVIT (Fu et al., 2025)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DINOv2 + Domain Aug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Only evaluated on in-distribution test sets.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Inception-LSTM (Ghuse, 2025)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Spatial-Sequential Hybrid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Lacks Explainability; restricted to pediatric only.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VGG19 (Ennab, 2025)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Grad-CAM vs Pixel-Level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Dated architecture; high False Positive Rates.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7" name="Google Shape;117;p15"/>
          <p:cNvSpPr txBox="1"/>
          <p:nvPr/>
        </p:nvSpPr>
        <p:spPr>
          <a:xfrm>
            <a:off x="571500" y="4955827"/>
            <a:ext cx="1104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Our Study: First Cross-Dataset Evaluation on CoronaHack for DAVIT.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3630959"/>
            <a:ext cx="3406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3978324" y="3630959"/>
            <a:ext cx="2753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731793" y="3630959"/>
            <a:ext cx="4888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71500" y="4143375"/>
            <a:ext cx="3406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978324" y="4143375"/>
            <a:ext cx="2753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731793" y="4143375"/>
            <a:ext cx="4888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71500" y="4655790"/>
            <a:ext cx="3406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978324" y="4655790"/>
            <a:ext cx="2753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731793" y="4655790"/>
            <a:ext cx="4888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/>
        </p:nvSpPr>
        <p:spPr>
          <a:xfrm>
            <a:off x="571500" y="442912"/>
            <a:ext cx="11601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Proposed DANN + GRL Architecture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1033462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71499" y="5660263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Objective:</a:t>
            </a:r>
            <a:endParaRPr dirty="0"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8643" y="1443037"/>
            <a:ext cx="6754713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1104" y="6017121"/>
            <a:ext cx="2009477" cy="186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/>
          <p:cNvPicPr preferRelativeResize="0"/>
          <p:nvPr/>
        </p:nvPicPr>
        <p:blipFill rotWithShape="1">
          <a:blip r:embed="rId3">
            <a:alphaModFix/>
          </a:blip>
          <a:srcRect t="30" b="30"/>
          <a:stretch/>
        </p:blipFill>
        <p:spPr>
          <a:xfrm>
            <a:off x="1333500" y="1333500"/>
            <a:ext cx="9525000" cy="33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DAViT Pipeline &amp; Failure Point</a:t>
            </a:r>
            <a:endParaRPr/>
          </a:p>
        </p:txBody>
      </p:sp>
      <p:grpSp>
        <p:nvGrpSpPr>
          <p:cNvPr id="142" name="Google Shape;142;p17"/>
          <p:cNvGrpSpPr/>
          <p:nvPr/>
        </p:nvGrpSpPr>
        <p:grpSpPr>
          <a:xfrm>
            <a:off x="571500" y="4762500"/>
            <a:ext cx="5429400" cy="1714500"/>
            <a:chOff x="571500" y="4762500"/>
            <a:chExt cx="5429400" cy="1714500"/>
          </a:xfrm>
        </p:grpSpPr>
        <p:sp>
          <p:nvSpPr>
            <p:cNvPr id="143" name="Google Shape;143;p17"/>
            <p:cNvSpPr/>
            <p:nvPr/>
          </p:nvSpPr>
          <p:spPr>
            <a:xfrm>
              <a:off x="571500" y="4762500"/>
              <a:ext cx="5429400" cy="17145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809625" y="4905375"/>
              <a:ext cx="4953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Frozen Backbone</a:t>
              </a:r>
              <a:endParaRPr sz="14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DINOv2-Large: </a:t>
              </a:r>
              <a:r>
                <a:rPr lang="en-US" sz="135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300M params. Frozen to preserve self-supervised general features.</a:t>
              </a:r>
              <a:endParaRPr sz="135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Input: </a:t>
              </a:r>
              <a:r>
                <a:rPr lang="en-US" sz="135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CXR 224x224</a:t>
              </a:r>
              <a:endParaRPr sz="135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Output: </a:t>
              </a:r>
              <a:r>
                <a:rPr lang="en-US" sz="135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1024-dim [CLS] Token</a:t>
              </a:r>
              <a:endParaRPr sz="135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45" name="Google Shape;145;p17"/>
          <p:cNvSpPr/>
          <p:nvPr/>
        </p:nvSpPr>
        <p:spPr>
          <a:xfrm>
            <a:off x="571500" y="1162050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7"/>
          <p:cNvGrpSpPr/>
          <p:nvPr/>
        </p:nvGrpSpPr>
        <p:grpSpPr>
          <a:xfrm>
            <a:off x="6191250" y="4762500"/>
            <a:ext cx="5429400" cy="1714500"/>
            <a:chOff x="6191250" y="4762500"/>
            <a:chExt cx="5429400" cy="1714500"/>
          </a:xfrm>
        </p:grpSpPr>
        <p:sp>
          <p:nvSpPr>
            <p:cNvPr id="147" name="Google Shape;147;p17"/>
            <p:cNvSpPr/>
            <p:nvPr/>
          </p:nvSpPr>
          <p:spPr>
            <a:xfrm>
              <a:off x="6191250" y="4762500"/>
              <a:ext cx="5429400" cy="1714500"/>
            </a:xfrm>
            <a:prstGeom prst="roundRect">
              <a:avLst>
                <a:gd name="adj" fmla="val 6666"/>
              </a:avLst>
            </a:prstGeom>
            <a:solidFill>
              <a:srgbClr val="FEF2F2"/>
            </a:solidFill>
            <a:ln w="9525" cap="flat" cmpd="sng">
              <a:solidFill>
                <a:srgbClr val="FE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6429375" y="4905375"/>
              <a:ext cx="4953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EF4444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Failure: The CNN Head</a:t>
              </a:r>
              <a:endParaRPr sz="1400" b="1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A 3-layer FC head trained on Kaggle. It memorized the </a:t>
              </a:r>
              <a:r>
                <a:rPr lang="en-US" sz="1350" b="1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texture</a:t>
              </a:r>
              <a:r>
                <a:rPr lang="en-US" sz="135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of pediatric scanners.</a:t>
              </a:r>
              <a:endParaRPr sz="1350" b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Result: </a:t>
              </a:r>
              <a:r>
                <a:rPr lang="en-US" sz="135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Miscalibration when seeing unseen adult imaging domains.</a:t>
              </a:r>
              <a:endParaRPr sz="135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82355"/>
            <a:ext cx="5429250" cy="1331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4082355"/>
            <a:ext cx="5429250" cy="133156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571500"/>
            <a:ext cx="11601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Three-Way Comparison (F1-Score)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1162050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783669" y="4330005"/>
            <a:ext cx="50907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-14.9% Drop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04875" y="4720530"/>
            <a:ext cx="4848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F1 Degradation under Domain Shift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403419" y="4330005"/>
            <a:ext cx="50907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10x FP Spike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524625" y="4720530"/>
            <a:ext cx="4848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Increased False Positives on Unseen Data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571500" y="571500"/>
            <a:ext cx="11601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Statistical Significance Analysis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71500" y="1162050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6286500" y="2510879"/>
            <a:ext cx="56007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Two-Proportion Z-Test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286500" y="2901404"/>
            <a:ext cx="533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tested the null hypothesis: "Recall rates are equal across domains."</a:t>
            </a:r>
            <a:endParaRPr/>
          </a:p>
        </p:txBody>
      </p:sp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4341465"/>
            <a:ext cx="5334000" cy="83433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6610350" y="3620482"/>
            <a:ext cx="573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667500" y="3621434"/>
            <a:ext cx="4953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Z-Score: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2.87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610350" y="3894772"/>
            <a:ext cx="573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667500" y="3895725"/>
            <a:ext cx="4953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Reject H₀ at α = 0.01</a:t>
            </a:r>
            <a:endParaRPr/>
          </a:p>
        </p:txBody>
      </p:sp>
      <p:pic>
        <p:nvPicPr>
          <p:cNvPr id="2" name="Google Shape;156;p19">
            <a:extLst>
              <a:ext uri="{FF2B5EF4-FFF2-40B4-BE49-F238E27FC236}">
                <a16:creationId xmlns:a16="http://schemas.microsoft.com/office/drawing/2014/main" id="{D4F8EBB2-C45F-29C9-F316-473F6685BCE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7207" y="2300610"/>
            <a:ext cx="3928329" cy="2639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69827"/>
            <a:ext cx="3555950" cy="2518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2669827"/>
            <a:ext cx="3555950" cy="2518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2669827"/>
            <a:ext cx="3555950" cy="2518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Why Does it Fail? (Discussion)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742633" y="3555652"/>
            <a:ext cx="321368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Texture Overfit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19150" y="3946177"/>
            <a:ext cx="30606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CNN Head memorized pediatric scanner calibration. Adult scanners differ in contrast.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489084" y="3555652"/>
            <a:ext cx="321368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Inverted Imbalance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565600" y="3946177"/>
            <a:ext cx="30606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Kaggle ratio (0.6:1) vs CoronaHack (1.8:1). Boundary biased toward viral class.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235534" y="3555652"/>
            <a:ext cx="321368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Heterogeneity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312050" y="3946177"/>
            <a:ext cx="30606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Multi-source hospital systems introduce acquisition noise DINOv2 can't fully fix.</a:t>
            </a:r>
            <a:endParaRPr/>
          </a:p>
        </p:txBody>
      </p:sp>
      <p:pic>
        <p:nvPicPr>
          <p:cNvPr id="192" name="Google Shape;19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58900" y="29651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96510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04176" y="2965102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Contributions &amp; Outcomes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571500" y="1162050"/>
            <a:ext cx="11049000" cy="28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21"/>
          <p:cNvGrpSpPr/>
          <p:nvPr/>
        </p:nvGrpSpPr>
        <p:grpSpPr>
          <a:xfrm>
            <a:off x="571500" y="1524000"/>
            <a:ext cx="11049000" cy="4476750"/>
            <a:chOff x="571500" y="1524000"/>
            <a:chExt cx="11049000" cy="4476750"/>
          </a:xfrm>
        </p:grpSpPr>
        <p:sp>
          <p:nvSpPr>
            <p:cNvPr id="202" name="Google Shape;202;p21"/>
            <p:cNvSpPr/>
            <p:nvPr/>
          </p:nvSpPr>
          <p:spPr>
            <a:xfrm>
              <a:off x="571500" y="1524000"/>
              <a:ext cx="5334000" cy="2095500"/>
            </a:xfrm>
            <a:prstGeom prst="roundRect">
              <a:avLst>
                <a:gd name="adj" fmla="val 5454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1"/>
            <p:cNvSpPr txBox="1"/>
            <p:nvPr/>
          </p:nvSpPr>
          <p:spPr>
            <a:xfrm>
              <a:off x="762000" y="1714500"/>
              <a:ext cx="4953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Evaluation</a:t>
              </a:r>
              <a:endParaRPr sz="2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First Cross-Dataset evaluation of DAViT on an entirely unseen Adult domain.</a:t>
              </a:r>
              <a:endParaRPr sz="1400" b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>
              <a:off x="6286500" y="1524000"/>
              <a:ext cx="5334000" cy="2095500"/>
            </a:xfrm>
            <a:prstGeom prst="roundRect">
              <a:avLst>
                <a:gd name="adj" fmla="val 5454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1"/>
            <p:cNvSpPr txBox="1"/>
            <p:nvPr/>
          </p:nvSpPr>
          <p:spPr>
            <a:xfrm>
              <a:off x="6477000" y="1714500"/>
              <a:ext cx="4953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Failure Analysis</a:t>
              </a:r>
              <a:endParaRPr sz="2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Identified CNN Head as the primary failure point for Vision Transformers in Med-AI.</a:t>
              </a:r>
              <a:endParaRPr sz="1400" b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571500" y="3905250"/>
              <a:ext cx="5334000" cy="2095500"/>
            </a:xfrm>
            <a:prstGeom prst="roundRect">
              <a:avLst>
                <a:gd name="adj" fmla="val 5454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762000" y="4095750"/>
              <a:ext cx="4953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Domain Shift</a:t>
              </a:r>
              <a:endParaRPr sz="2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Statistically confirmed domain shift with Z-test (p=0.0041).</a:t>
              </a:r>
              <a:endParaRPr sz="1400" b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8" name="Google Shape;208;p21"/>
            <p:cNvSpPr/>
            <p:nvPr/>
          </p:nvSpPr>
          <p:spPr>
            <a:xfrm>
              <a:off x="6286500" y="3905250"/>
              <a:ext cx="5334000" cy="2095500"/>
            </a:xfrm>
            <a:prstGeom prst="roundRect">
              <a:avLst>
                <a:gd name="adj" fmla="val 5454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1"/>
            <p:cNvSpPr txBox="1"/>
            <p:nvPr/>
          </p:nvSpPr>
          <p:spPr>
            <a:xfrm>
              <a:off x="6477000" y="4095750"/>
              <a:ext cx="4953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Architecture</a:t>
              </a:r>
              <a:endParaRPr sz="2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Proposed DANN + GRL architecture as the remedy for hospital-agnostic deployment.</a:t>
              </a:r>
              <a:endParaRPr sz="1400" b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D1711F-5490-A13C-57A8-F1D6BB5CE70F}"/>
              </a:ext>
            </a:extLst>
          </p:cNvPr>
          <p:cNvSpPr txBox="1"/>
          <p:nvPr/>
        </p:nvSpPr>
        <p:spPr>
          <a:xfrm>
            <a:off x="3038994" y="2939250"/>
            <a:ext cx="6114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erriweather" panose="00000500000000000000" pitchFamily="2" charset="0"/>
              </a:rPr>
              <a:t>Thank you for your time and attention</a:t>
            </a:r>
            <a:endParaRPr lang="en-HK" sz="2400" dirty="0">
              <a:latin typeface="Merriweather" panose="00000500000000000000" pitchFamily="2" charset="0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286000" y="1714500"/>
            <a:ext cx="7620000" cy="113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 sz="7400" b="1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5143500" y="4667250"/>
            <a:ext cx="1905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DA6F66-52CC-6843-ACF6-539DB007E81E}"/>
              </a:ext>
            </a:extLst>
          </p:cNvPr>
          <p:cNvSpPr txBox="1"/>
          <p:nvPr/>
        </p:nvSpPr>
        <p:spPr>
          <a:xfrm>
            <a:off x="3478875" y="1673810"/>
            <a:ext cx="585354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Merriweather" panose="00000500000000000000" pitchFamily="2" charset="0"/>
              </a:rPr>
              <a:t>Questions?</a:t>
            </a:r>
          </a:p>
          <a:p>
            <a:endParaRPr lang="en-HK" sz="6600" b="1" dirty="0">
              <a:latin typeface="Merriweather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8F539-2BF0-6DC7-85D1-421BE009CD0F}"/>
              </a:ext>
            </a:extLst>
          </p:cNvPr>
          <p:cNvSpPr txBox="1"/>
          <p:nvPr/>
        </p:nvSpPr>
        <p:spPr>
          <a:xfrm>
            <a:off x="4331970" y="4409400"/>
            <a:ext cx="35280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Haseeb Arshad – 23i-2578</a:t>
            </a:r>
          </a:p>
          <a:p>
            <a:r>
              <a:rPr lang="en-US" sz="2000" dirty="0"/>
              <a:t>Haider Farooq – 23i-2542</a:t>
            </a:r>
          </a:p>
          <a:p>
            <a:r>
              <a:rPr lang="en-US" sz="2000" dirty="0"/>
              <a:t>Muddassir Asghar – 23i-2577</a:t>
            </a:r>
            <a:endParaRPr lang="en-HK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</Words>
  <Application>Microsoft Office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DM Sans</vt:lpstr>
      <vt:lpstr>Arial</vt:lpstr>
      <vt:lpstr>Merriweather</vt:lpstr>
      <vt:lpstr>DM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Muddassir</dc:creator>
  <cp:lastModifiedBy>Muddassir Asghar</cp:lastModifiedBy>
  <cp:revision>1</cp:revision>
  <dcterms:modified xsi:type="dcterms:W3CDTF">2026-05-03T19:45:38Z</dcterms:modified>
</cp:coreProperties>
</file>